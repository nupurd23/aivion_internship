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4CA59F-3E13-4470-A075-45FFC1362D22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C139C28-11D4-4678-9E1C-1F30E3B5FB76}">
      <dgm:prSet phldrT="[Text]"/>
      <dgm:spPr/>
      <dgm:t>
        <a:bodyPr/>
        <a:lstStyle/>
        <a:p>
          <a:r>
            <a:rPr lang="en-US" dirty="0"/>
            <a:t>Data Foundation</a:t>
          </a:r>
          <a:endParaRPr lang="en-IN" dirty="0"/>
        </a:p>
      </dgm:t>
    </dgm:pt>
    <dgm:pt modelId="{AAD517A8-F2C0-4B64-85AD-5BD4EA977DC8}" type="parTrans" cxnId="{15A5AAEA-93E2-4C60-9811-71D092744875}">
      <dgm:prSet/>
      <dgm:spPr/>
      <dgm:t>
        <a:bodyPr/>
        <a:lstStyle/>
        <a:p>
          <a:endParaRPr lang="en-IN"/>
        </a:p>
      </dgm:t>
    </dgm:pt>
    <dgm:pt modelId="{47F173EF-4B70-4B2C-8F93-7469D516A07D}" type="sibTrans" cxnId="{15A5AAEA-93E2-4C60-9811-71D092744875}">
      <dgm:prSet/>
      <dgm:spPr/>
      <dgm:t>
        <a:bodyPr/>
        <a:lstStyle/>
        <a:p>
          <a:endParaRPr lang="en-IN"/>
        </a:p>
      </dgm:t>
    </dgm:pt>
    <dgm:pt modelId="{7D294894-A419-46DC-A44E-68A8BB134789}">
      <dgm:prSet phldrT="[Text]"/>
      <dgm:spPr/>
      <dgm:t>
        <a:bodyPr/>
        <a:lstStyle/>
        <a:p>
          <a:r>
            <a:rPr lang="en-US" dirty="0"/>
            <a:t>Data Centralization</a:t>
          </a:r>
          <a:endParaRPr lang="en-IN" dirty="0"/>
        </a:p>
      </dgm:t>
    </dgm:pt>
    <dgm:pt modelId="{491BDAA8-19CE-4555-A51B-048BE26FFB60}" type="parTrans" cxnId="{75BEA135-FDB7-4940-B4A5-6105896946A7}">
      <dgm:prSet/>
      <dgm:spPr/>
      <dgm:t>
        <a:bodyPr/>
        <a:lstStyle/>
        <a:p>
          <a:endParaRPr lang="en-IN"/>
        </a:p>
      </dgm:t>
    </dgm:pt>
    <dgm:pt modelId="{BDFAD929-61D6-46F5-82A6-EE42339AA32D}" type="sibTrans" cxnId="{75BEA135-FDB7-4940-B4A5-6105896946A7}">
      <dgm:prSet/>
      <dgm:spPr/>
      <dgm:t>
        <a:bodyPr/>
        <a:lstStyle/>
        <a:p>
          <a:endParaRPr lang="en-IN"/>
        </a:p>
      </dgm:t>
    </dgm:pt>
    <dgm:pt modelId="{2BACB48F-D381-47A4-B08A-4DE3A6227C64}">
      <dgm:prSet phldrT="[Text]"/>
      <dgm:spPr/>
      <dgm:t>
        <a:bodyPr/>
        <a:lstStyle/>
        <a:p>
          <a:r>
            <a:rPr lang="en-US" dirty="0"/>
            <a:t>Advanced Analytics</a:t>
          </a:r>
          <a:endParaRPr lang="en-IN" dirty="0"/>
        </a:p>
      </dgm:t>
    </dgm:pt>
    <dgm:pt modelId="{745ED46A-9629-4B4E-A31D-BEF0AFDEA953}" type="parTrans" cxnId="{FB1B4E74-5C31-4411-B255-3D2C58618E91}">
      <dgm:prSet/>
      <dgm:spPr/>
      <dgm:t>
        <a:bodyPr/>
        <a:lstStyle/>
        <a:p>
          <a:endParaRPr lang="en-IN"/>
        </a:p>
      </dgm:t>
    </dgm:pt>
    <dgm:pt modelId="{15283264-3EF8-45A9-9FA3-ED77F2411AEE}" type="sibTrans" cxnId="{FB1B4E74-5C31-4411-B255-3D2C58618E91}">
      <dgm:prSet/>
      <dgm:spPr/>
      <dgm:t>
        <a:bodyPr/>
        <a:lstStyle/>
        <a:p>
          <a:endParaRPr lang="en-IN"/>
        </a:p>
      </dgm:t>
    </dgm:pt>
    <dgm:pt modelId="{E35AA3EE-4CC5-4D09-A0E7-4CF5FF8B1707}">
      <dgm:prSet phldrT="[Text]"/>
      <dgm:spPr/>
      <dgm:t>
        <a:bodyPr/>
        <a:lstStyle/>
        <a:p>
          <a:r>
            <a:rPr lang="en-US" dirty="0"/>
            <a:t>Business intelligence dashboards</a:t>
          </a:r>
          <a:endParaRPr lang="en-IN" dirty="0"/>
        </a:p>
      </dgm:t>
    </dgm:pt>
    <dgm:pt modelId="{705605DB-4046-4671-8850-95FB193C1FD9}" type="parTrans" cxnId="{4F5E3A52-76B9-42F1-AB24-0E2437A4E2CC}">
      <dgm:prSet/>
      <dgm:spPr/>
      <dgm:t>
        <a:bodyPr/>
        <a:lstStyle/>
        <a:p>
          <a:endParaRPr lang="en-IN"/>
        </a:p>
      </dgm:t>
    </dgm:pt>
    <dgm:pt modelId="{8C75A8F2-2CA5-43C9-AA5B-E00D366B53E3}" type="sibTrans" cxnId="{4F5E3A52-76B9-42F1-AB24-0E2437A4E2CC}">
      <dgm:prSet/>
      <dgm:spPr/>
      <dgm:t>
        <a:bodyPr/>
        <a:lstStyle/>
        <a:p>
          <a:endParaRPr lang="en-IN"/>
        </a:p>
      </dgm:t>
    </dgm:pt>
    <dgm:pt modelId="{D82D9B06-027C-495A-B380-CFF51EC03FF2}">
      <dgm:prSet phldrT="[Text]"/>
      <dgm:spPr/>
      <dgm:t>
        <a:bodyPr/>
        <a:lstStyle/>
        <a:p>
          <a:r>
            <a:rPr lang="en-US" dirty="0"/>
            <a:t>AI Driven Intelligence</a:t>
          </a:r>
          <a:endParaRPr lang="en-IN" dirty="0"/>
        </a:p>
      </dgm:t>
    </dgm:pt>
    <dgm:pt modelId="{9D867986-E22E-43B7-A9F3-CBC5C25DB697}" type="parTrans" cxnId="{99E14970-07D7-4452-B9AC-5CBD593E85A1}">
      <dgm:prSet/>
      <dgm:spPr/>
      <dgm:t>
        <a:bodyPr/>
        <a:lstStyle/>
        <a:p>
          <a:endParaRPr lang="en-IN"/>
        </a:p>
      </dgm:t>
    </dgm:pt>
    <dgm:pt modelId="{331B004C-EDEB-4818-8537-9C7D7CC3B8D3}" type="sibTrans" cxnId="{99E14970-07D7-4452-B9AC-5CBD593E85A1}">
      <dgm:prSet/>
      <dgm:spPr/>
      <dgm:t>
        <a:bodyPr/>
        <a:lstStyle/>
        <a:p>
          <a:endParaRPr lang="en-IN"/>
        </a:p>
      </dgm:t>
    </dgm:pt>
    <dgm:pt modelId="{1CDB2727-99AD-4A94-9AF0-E7BDC322A0DF}">
      <dgm:prSet phldrT="[Text]"/>
      <dgm:spPr/>
      <dgm:t>
        <a:bodyPr/>
        <a:lstStyle/>
        <a:p>
          <a:r>
            <a:rPr lang="en-US" dirty="0"/>
            <a:t>Predictive analytics</a:t>
          </a:r>
          <a:endParaRPr lang="en-IN" dirty="0"/>
        </a:p>
      </dgm:t>
    </dgm:pt>
    <dgm:pt modelId="{9D2EB9B3-9703-4BFF-A158-EF6ECC1E61D8}" type="parTrans" cxnId="{7D7BF037-5F54-44CF-9531-C165914C12F1}">
      <dgm:prSet/>
      <dgm:spPr/>
      <dgm:t>
        <a:bodyPr/>
        <a:lstStyle/>
        <a:p>
          <a:endParaRPr lang="en-IN"/>
        </a:p>
      </dgm:t>
    </dgm:pt>
    <dgm:pt modelId="{42BCCBA3-7BC6-462E-B070-B8631BAE240C}" type="sibTrans" cxnId="{7D7BF037-5F54-44CF-9531-C165914C12F1}">
      <dgm:prSet/>
      <dgm:spPr/>
      <dgm:t>
        <a:bodyPr/>
        <a:lstStyle/>
        <a:p>
          <a:endParaRPr lang="en-IN"/>
        </a:p>
      </dgm:t>
    </dgm:pt>
    <dgm:pt modelId="{A273EA09-49EA-41D2-9800-03ACC3DF37C8}">
      <dgm:prSet phldrT="[Text]"/>
      <dgm:spPr/>
      <dgm:t>
        <a:bodyPr/>
        <a:lstStyle/>
        <a:p>
          <a:endParaRPr lang="en-IN" dirty="0"/>
        </a:p>
      </dgm:t>
    </dgm:pt>
    <dgm:pt modelId="{1AFE5425-276A-4E02-9B4B-DF047255950B}" type="parTrans" cxnId="{28283EA8-3EDD-4CF5-ABFB-DFBCE92665FA}">
      <dgm:prSet/>
      <dgm:spPr/>
      <dgm:t>
        <a:bodyPr/>
        <a:lstStyle/>
        <a:p>
          <a:endParaRPr lang="en-IN"/>
        </a:p>
      </dgm:t>
    </dgm:pt>
    <dgm:pt modelId="{BE3A83DA-338A-41F1-8305-DE0F276F36F6}" type="sibTrans" cxnId="{28283EA8-3EDD-4CF5-ABFB-DFBCE92665FA}">
      <dgm:prSet/>
      <dgm:spPr/>
      <dgm:t>
        <a:bodyPr/>
        <a:lstStyle/>
        <a:p>
          <a:endParaRPr lang="en-IN"/>
        </a:p>
      </dgm:t>
    </dgm:pt>
    <dgm:pt modelId="{76F6A34C-FF21-482C-A35D-222A38FDC43A}">
      <dgm:prSet phldrT="[Text]"/>
      <dgm:spPr/>
      <dgm:t>
        <a:bodyPr/>
        <a:lstStyle/>
        <a:p>
          <a:r>
            <a:rPr lang="en-US" dirty="0"/>
            <a:t>System Integration</a:t>
          </a:r>
          <a:endParaRPr lang="en-IN" dirty="0"/>
        </a:p>
      </dgm:t>
    </dgm:pt>
    <dgm:pt modelId="{F6FDC46C-2CA1-49D7-9022-881621FE973A}" type="parTrans" cxnId="{1B90684B-800D-4A2A-95A9-E604D6508C0F}">
      <dgm:prSet/>
      <dgm:spPr/>
      <dgm:t>
        <a:bodyPr/>
        <a:lstStyle/>
        <a:p>
          <a:endParaRPr lang="en-IN"/>
        </a:p>
      </dgm:t>
    </dgm:pt>
    <dgm:pt modelId="{3958E8A8-9014-419E-9665-8091C40D64D6}" type="sibTrans" cxnId="{1B90684B-800D-4A2A-95A9-E604D6508C0F}">
      <dgm:prSet/>
      <dgm:spPr/>
      <dgm:t>
        <a:bodyPr/>
        <a:lstStyle/>
        <a:p>
          <a:endParaRPr lang="en-IN"/>
        </a:p>
      </dgm:t>
    </dgm:pt>
    <dgm:pt modelId="{09ABB0EC-D10A-4340-B375-D237E0A05A01}">
      <dgm:prSet phldrT="[Text]"/>
      <dgm:spPr/>
      <dgm:t>
        <a:bodyPr/>
        <a:lstStyle/>
        <a:p>
          <a:r>
            <a:rPr lang="en-US" dirty="0"/>
            <a:t>Data quality and governance</a:t>
          </a:r>
          <a:endParaRPr lang="en-IN" dirty="0"/>
        </a:p>
      </dgm:t>
    </dgm:pt>
    <dgm:pt modelId="{4EEDA70A-DFDA-4569-A741-DEA89884E6A3}" type="parTrans" cxnId="{96EA8324-24ED-4B71-BD4D-6703AA9B93A8}">
      <dgm:prSet/>
      <dgm:spPr/>
      <dgm:t>
        <a:bodyPr/>
        <a:lstStyle/>
        <a:p>
          <a:endParaRPr lang="en-IN"/>
        </a:p>
      </dgm:t>
    </dgm:pt>
    <dgm:pt modelId="{60EF034A-76AA-4EAF-A19A-F52CECB3D88C}" type="sibTrans" cxnId="{96EA8324-24ED-4B71-BD4D-6703AA9B93A8}">
      <dgm:prSet/>
      <dgm:spPr/>
      <dgm:t>
        <a:bodyPr/>
        <a:lstStyle/>
        <a:p>
          <a:endParaRPr lang="en-IN"/>
        </a:p>
      </dgm:t>
    </dgm:pt>
    <dgm:pt modelId="{E297E693-9AF3-4373-AF29-934575E929F3}">
      <dgm:prSet phldrT="[Text]"/>
      <dgm:spPr/>
      <dgm:t>
        <a:bodyPr/>
        <a:lstStyle/>
        <a:p>
          <a:r>
            <a:rPr lang="en-US" dirty="0"/>
            <a:t>Self service analytics</a:t>
          </a:r>
          <a:endParaRPr lang="en-IN" dirty="0"/>
        </a:p>
      </dgm:t>
    </dgm:pt>
    <dgm:pt modelId="{AE4D27EE-D72E-43A0-931A-09832DC41167}" type="parTrans" cxnId="{1901A76F-0546-4DE7-AB73-677C8976D494}">
      <dgm:prSet/>
      <dgm:spPr/>
      <dgm:t>
        <a:bodyPr/>
        <a:lstStyle/>
        <a:p>
          <a:endParaRPr lang="en-IN"/>
        </a:p>
      </dgm:t>
    </dgm:pt>
    <dgm:pt modelId="{BBB351DC-213D-4A69-AEFB-161B06EDD6E2}" type="sibTrans" cxnId="{1901A76F-0546-4DE7-AB73-677C8976D494}">
      <dgm:prSet/>
      <dgm:spPr/>
      <dgm:t>
        <a:bodyPr/>
        <a:lstStyle/>
        <a:p>
          <a:endParaRPr lang="en-IN"/>
        </a:p>
      </dgm:t>
    </dgm:pt>
    <dgm:pt modelId="{609ED54A-431A-4316-BCBE-3D9E3B78286A}">
      <dgm:prSet phldrT="[Text]"/>
      <dgm:spPr/>
      <dgm:t>
        <a:bodyPr/>
        <a:lstStyle/>
        <a:p>
          <a:r>
            <a:rPr lang="en-US" dirty="0"/>
            <a:t>Real time and historical insights</a:t>
          </a:r>
          <a:endParaRPr lang="en-IN" dirty="0"/>
        </a:p>
      </dgm:t>
    </dgm:pt>
    <dgm:pt modelId="{BBD74BF1-77EC-4EC9-A5EA-FB07CC8BA0E7}" type="parTrans" cxnId="{583E1BEC-30EE-437C-99F8-476B6303535B}">
      <dgm:prSet/>
      <dgm:spPr/>
      <dgm:t>
        <a:bodyPr/>
        <a:lstStyle/>
        <a:p>
          <a:endParaRPr lang="en-IN"/>
        </a:p>
      </dgm:t>
    </dgm:pt>
    <dgm:pt modelId="{C02F3647-D353-4F9A-8DC6-A164B4908C92}" type="sibTrans" cxnId="{583E1BEC-30EE-437C-99F8-476B6303535B}">
      <dgm:prSet/>
      <dgm:spPr/>
      <dgm:t>
        <a:bodyPr/>
        <a:lstStyle/>
        <a:p>
          <a:endParaRPr lang="en-IN"/>
        </a:p>
      </dgm:t>
    </dgm:pt>
    <dgm:pt modelId="{CB2654A3-B84D-453C-A6BC-6E05FBC39D7B}">
      <dgm:prSet phldrT="[Text]"/>
      <dgm:spPr/>
      <dgm:t>
        <a:bodyPr/>
        <a:lstStyle/>
        <a:p>
          <a:r>
            <a:rPr lang="en-US" dirty="0"/>
            <a:t>Risk alerts and anomaly detection</a:t>
          </a:r>
          <a:endParaRPr lang="en-IN" dirty="0"/>
        </a:p>
      </dgm:t>
    </dgm:pt>
    <dgm:pt modelId="{4E4D5B9B-9E0F-45C4-B1C0-F70362414E0A}" type="parTrans" cxnId="{523359AD-6F0F-4065-A465-58B8CC299493}">
      <dgm:prSet/>
      <dgm:spPr/>
      <dgm:t>
        <a:bodyPr/>
        <a:lstStyle/>
        <a:p>
          <a:endParaRPr lang="en-IN"/>
        </a:p>
      </dgm:t>
    </dgm:pt>
    <dgm:pt modelId="{FB9242E7-EBBA-4C10-B85B-C339EC9DD9FA}" type="sibTrans" cxnId="{523359AD-6F0F-4065-A465-58B8CC299493}">
      <dgm:prSet/>
      <dgm:spPr/>
      <dgm:t>
        <a:bodyPr/>
        <a:lstStyle/>
        <a:p>
          <a:endParaRPr lang="en-IN"/>
        </a:p>
      </dgm:t>
    </dgm:pt>
    <dgm:pt modelId="{DD5A7A35-5A15-4B58-AEDD-411F40950215}">
      <dgm:prSet phldrT="[Text]"/>
      <dgm:spPr/>
      <dgm:t>
        <a:bodyPr/>
        <a:lstStyle/>
        <a:p>
          <a:r>
            <a:rPr lang="en-US" dirty="0"/>
            <a:t>AI-powered decision support</a:t>
          </a:r>
          <a:endParaRPr lang="en-IN" dirty="0"/>
        </a:p>
      </dgm:t>
    </dgm:pt>
    <dgm:pt modelId="{BD81162B-C20F-4005-B2F0-C30B399C5E32}" type="parTrans" cxnId="{C031689E-E973-46C7-8518-E3195823960E}">
      <dgm:prSet/>
      <dgm:spPr/>
      <dgm:t>
        <a:bodyPr/>
        <a:lstStyle/>
        <a:p>
          <a:endParaRPr lang="en-IN"/>
        </a:p>
      </dgm:t>
    </dgm:pt>
    <dgm:pt modelId="{E57BB0D7-5BEF-496E-B302-348D9F025F8F}" type="sibTrans" cxnId="{C031689E-E973-46C7-8518-E3195823960E}">
      <dgm:prSet/>
      <dgm:spPr/>
      <dgm:t>
        <a:bodyPr/>
        <a:lstStyle/>
        <a:p>
          <a:endParaRPr lang="en-IN"/>
        </a:p>
      </dgm:t>
    </dgm:pt>
    <dgm:pt modelId="{56A41B7D-5714-4130-BFA8-8553513D8FA5}" type="pres">
      <dgm:prSet presAssocID="{ED4CA59F-3E13-4470-A075-45FFC1362D22}" presName="rootnode" presStyleCnt="0">
        <dgm:presLayoutVars>
          <dgm:chMax/>
          <dgm:chPref/>
          <dgm:dir/>
          <dgm:animLvl val="lvl"/>
        </dgm:presLayoutVars>
      </dgm:prSet>
      <dgm:spPr/>
    </dgm:pt>
    <dgm:pt modelId="{B4EF55F4-7DAA-4BB1-B677-91EB561D03F3}" type="pres">
      <dgm:prSet presAssocID="{9C139C28-11D4-4678-9E1C-1F30E3B5FB76}" presName="composite" presStyleCnt="0"/>
      <dgm:spPr/>
    </dgm:pt>
    <dgm:pt modelId="{400D0227-D512-4F01-896E-308724A946E1}" type="pres">
      <dgm:prSet presAssocID="{9C139C28-11D4-4678-9E1C-1F30E3B5FB76}" presName="bentUpArrow1" presStyleLbl="alignImgPlace1" presStyleIdx="0" presStyleCnt="2"/>
      <dgm:spPr/>
    </dgm:pt>
    <dgm:pt modelId="{C85DE093-86E8-40B3-9068-7BF87C232A51}" type="pres">
      <dgm:prSet presAssocID="{9C139C28-11D4-4678-9E1C-1F30E3B5FB76}" presName="ParentText" presStyleLbl="node1" presStyleIdx="0" presStyleCnt="3" custScaleX="98562" custScaleY="95579">
        <dgm:presLayoutVars>
          <dgm:chMax val="1"/>
          <dgm:chPref val="1"/>
          <dgm:bulletEnabled val="1"/>
        </dgm:presLayoutVars>
      </dgm:prSet>
      <dgm:spPr/>
    </dgm:pt>
    <dgm:pt modelId="{74168544-C8A1-46EF-A7DD-08EBF290A002}" type="pres">
      <dgm:prSet presAssocID="{9C139C28-11D4-4678-9E1C-1F30E3B5FB76}" presName="ChildText" presStyleLbl="revTx" presStyleIdx="0" presStyleCnt="3" custScaleX="214077" custLinFactNeighborX="59618" custLinFactNeighborY="3066">
        <dgm:presLayoutVars>
          <dgm:chMax val="0"/>
          <dgm:chPref val="0"/>
          <dgm:bulletEnabled val="1"/>
        </dgm:presLayoutVars>
      </dgm:prSet>
      <dgm:spPr/>
    </dgm:pt>
    <dgm:pt modelId="{74F9155C-5F38-45E7-94F7-79285C18718C}" type="pres">
      <dgm:prSet presAssocID="{47F173EF-4B70-4B2C-8F93-7469D516A07D}" presName="sibTrans" presStyleCnt="0"/>
      <dgm:spPr/>
    </dgm:pt>
    <dgm:pt modelId="{CC1D36AC-49F6-4A00-8E04-9C78FA4DE5CE}" type="pres">
      <dgm:prSet presAssocID="{2BACB48F-D381-47A4-B08A-4DE3A6227C64}" presName="composite" presStyleCnt="0"/>
      <dgm:spPr/>
    </dgm:pt>
    <dgm:pt modelId="{E616EC08-7C0C-401F-938A-6C3F28C430EC}" type="pres">
      <dgm:prSet presAssocID="{2BACB48F-D381-47A4-B08A-4DE3A6227C64}" presName="bentUpArrow1" presStyleLbl="alignImgPlace1" presStyleIdx="1" presStyleCnt="2"/>
      <dgm:spPr/>
    </dgm:pt>
    <dgm:pt modelId="{2C1C42DA-0B80-4DA7-97B7-22C9E0B0908F}" type="pres">
      <dgm:prSet presAssocID="{2BACB48F-D381-47A4-B08A-4DE3A6227C64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193F54E5-8840-4B01-9E4C-D56B2D375EA3}" type="pres">
      <dgm:prSet presAssocID="{2BACB48F-D381-47A4-B08A-4DE3A6227C64}" presName="ChildText" presStyleLbl="revTx" presStyleIdx="1" presStyleCnt="3" custScaleX="242824" custLinFactNeighborX="72336" custLinFactNeighborY="-1080">
        <dgm:presLayoutVars>
          <dgm:chMax val="0"/>
          <dgm:chPref val="0"/>
          <dgm:bulletEnabled val="1"/>
        </dgm:presLayoutVars>
      </dgm:prSet>
      <dgm:spPr/>
    </dgm:pt>
    <dgm:pt modelId="{D4E5DBA1-5398-4AD0-8408-1058CE57BB50}" type="pres">
      <dgm:prSet presAssocID="{15283264-3EF8-45A9-9FA3-ED77F2411AEE}" presName="sibTrans" presStyleCnt="0"/>
      <dgm:spPr/>
    </dgm:pt>
    <dgm:pt modelId="{807D7B9D-E5A9-4DE2-866B-7FFF8A4544EC}" type="pres">
      <dgm:prSet presAssocID="{D82D9B06-027C-495A-B380-CFF51EC03FF2}" presName="composite" presStyleCnt="0"/>
      <dgm:spPr/>
    </dgm:pt>
    <dgm:pt modelId="{50F7A1D8-7061-497B-8D7A-CB27F1127F7C}" type="pres">
      <dgm:prSet presAssocID="{D82D9B06-027C-495A-B380-CFF51EC03FF2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AC0B05F7-BE28-4DE7-BEDD-1B4C78C5E249}" type="pres">
      <dgm:prSet presAssocID="{D82D9B06-027C-495A-B380-CFF51EC03FF2}" presName="FinalChildText" presStyleLbl="revTx" presStyleIdx="2" presStyleCnt="3" custScaleX="180365" custLinFactNeighborX="54128" custLinFactNeighborY="2899">
        <dgm:presLayoutVars>
          <dgm:chMax val="0"/>
          <dgm:chPref val="0"/>
          <dgm:bulletEnabled val="1"/>
        </dgm:presLayoutVars>
      </dgm:prSet>
      <dgm:spPr/>
    </dgm:pt>
  </dgm:ptLst>
  <dgm:cxnLst>
    <dgm:cxn modelId="{AC5FFA03-1923-4027-A480-426B41137C99}" type="presOf" srcId="{7D294894-A419-46DC-A44E-68A8BB134789}" destId="{74168544-C8A1-46EF-A7DD-08EBF290A002}" srcOrd="0" destOrd="0" presId="urn:microsoft.com/office/officeart/2005/8/layout/StepDownProcess"/>
    <dgm:cxn modelId="{BD4BB909-AAC0-4527-8076-F22056D9524E}" type="presOf" srcId="{CB2654A3-B84D-453C-A6BC-6E05FBC39D7B}" destId="{AC0B05F7-BE28-4DE7-BEDD-1B4C78C5E249}" srcOrd="0" destOrd="1" presId="urn:microsoft.com/office/officeart/2005/8/layout/StepDownProcess"/>
    <dgm:cxn modelId="{5158D914-E5AE-44F6-922F-CF958D6D9713}" type="presOf" srcId="{A273EA09-49EA-41D2-9800-03ACC3DF37C8}" destId="{74168544-C8A1-46EF-A7DD-08EBF290A002}" srcOrd="0" destOrd="3" presId="urn:microsoft.com/office/officeart/2005/8/layout/StepDownProcess"/>
    <dgm:cxn modelId="{96EA8324-24ED-4B71-BD4D-6703AA9B93A8}" srcId="{9C139C28-11D4-4678-9E1C-1F30E3B5FB76}" destId="{09ABB0EC-D10A-4340-B375-D237E0A05A01}" srcOrd="2" destOrd="0" parTransId="{4EEDA70A-DFDA-4569-A741-DEA89884E6A3}" sibTransId="{60EF034A-76AA-4EAF-A19A-F52CECB3D88C}"/>
    <dgm:cxn modelId="{FA84A232-99EC-4594-8572-FBA5AB072968}" type="presOf" srcId="{2BACB48F-D381-47A4-B08A-4DE3A6227C64}" destId="{2C1C42DA-0B80-4DA7-97B7-22C9E0B0908F}" srcOrd="0" destOrd="0" presId="urn:microsoft.com/office/officeart/2005/8/layout/StepDownProcess"/>
    <dgm:cxn modelId="{75BEA135-FDB7-4940-B4A5-6105896946A7}" srcId="{9C139C28-11D4-4678-9E1C-1F30E3B5FB76}" destId="{7D294894-A419-46DC-A44E-68A8BB134789}" srcOrd="0" destOrd="0" parTransId="{491BDAA8-19CE-4555-A51B-048BE26FFB60}" sibTransId="{BDFAD929-61D6-46F5-82A6-EE42339AA32D}"/>
    <dgm:cxn modelId="{FE312C37-64B8-4BF9-921F-511BD2294355}" type="presOf" srcId="{09ABB0EC-D10A-4340-B375-D237E0A05A01}" destId="{74168544-C8A1-46EF-A7DD-08EBF290A002}" srcOrd="0" destOrd="2" presId="urn:microsoft.com/office/officeart/2005/8/layout/StepDownProcess"/>
    <dgm:cxn modelId="{7D7BF037-5F54-44CF-9531-C165914C12F1}" srcId="{D82D9B06-027C-495A-B380-CFF51EC03FF2}" destId="{1CDB2727-99AD-4A94-9AF0-E7BDC322A0DF}" srcOrd="0" destOrd="0" parTransId="{9D2EB9B3-9703-4BFF-A158-EF6ECC1E61D8}" sibTransId="{42BCCBA3-7BC6-462E-B070-B8631BAE240C}"/>
    <dgm:cxn modelId="{3E529E3F-446F-4BE2-87B8-801BDE55CB08}" type="presOf" srcId="{E35AA3EE-4CC5-4D09-A0E7-4CF5FF8B1707}" destId="{193F54E5-8840-4B01-9E4C-D56B2D375EA3}" srcOrd="0" destOrd="0" presId="urn:microsoft.com/office/officeart/2005/8/layout/StepDownProcess"/>
    <dgm:cxn modelId="{DE2DCA5F-54EC-4361-95B9-1DE1DF2706EE}" type="presOf" srcId="{ED4CA59F-3E13-4470-A075-45FFC1362D22}" destId="{56A41B7D-5714-4130-BFA8-8553513D8FA5}" srcOrd="0" destOrd="0" presId="urn:microsoft.com/office/officeart/2005/8/layout/StepDownProcess"/>
    <dgm:cxn modelId="{36B3E366-6E18-466C-89DB-FDE831B15B9F}" type="presOf" srcId="{9C139C28-11D4-4678-9E1C-1F30E3B5FB76}" destId="{C85DE093-86E8-40B3-9068-7BF87C232A51}" srcOrd="0" destOrd="0" presId="urn:microsoft.com/office/officeart/2005/8/layout/StepDownProcess"/>
    <dgm:cxn modelId="{1B90684B-800D-4A2A-95A9-E604D6508C0F}" srcId="{9C139C28-11D4-4678-9E1C-1F30E3B5FB76}" destId="{76F6A34C-FF21-482C-A35D-222A38FDC43A}" srcOrd="1" destOrd="0" parTransId="{F6FDC46C-2CA1-49D7-9022-881621FE973A}" sibTransId="{3958E8A8-9014-419E-9665-8091C40D64D6}"/>
    <dgm:cxn modelId="{1901A76F-0546-4DE7-AB73-677C8976D494}" srcId="{2BACB48F-D381-47A4-B08A-4DE3A6227C64}" destId="{E297E693-9AF3-4373-AF29-934575E929F3}" srcOrd="1" destOrd="0" parTransId="{AE4D27EE-D72E-43A0-931A-09832DC41167}" sibTransId="{BBB351DC-213D-4A69-AEFB-161B06EDD6E2}"/>
    <dgm:cxn modelId="{99E14970-07D7-4452-B9AC-5CBD593E85A1}" srcId="{ED4CA59F-3E13-4470-A075-45FFC1362D22}" destId="{D82D9B06-027C-495A-B380-CFF51EC03FF2}" srcOrd="2" destOrd="0" parTransId="{9D867986-E22E-43B7-A9F3-CBC5C25DB697}" sibTransId="{331B004C-EDEB-4818-8537-9C7D7CC3B8D3}"/>
    <dgm:cxn modelId="{4F5E3A52-76B9-42F1-AB24-0E2437A4E2CC}" srcId="{2BACB48F-D381-47A4-B08A-4DE3A6227C64}" destId="{E35AA3EE-4CC5-4D09-A0E7-4CF5FF8B1707}" srcOrd="0" destOrd="0" parTransId="{705605DB-4046-4671-8850-95FB193C1FD9}" sibTransId="{8C75A8F2-2CA5-43C9-AA5B-E00D366B53E3}"/>
    <dgm:cxn modelId="{FB1B4E74-5C31-4411-B255-3D2C58618E91}" srcId="{ED4CA59F-3E13-4470-A075-45FFC1362D22}" destId="{2BACB48F-D381-47A4-B08A-4DE3A6227C64}" srcOrd="1" destOrd="0" parTransId="{745ED46A-9629-4B4E-A31D-BEF0AFDEA953}" sibTransId="{15283264-3EF8-45A9-9FA3-ED77F2411AEE}"/>
    <dgm:cxn modelId="{7C794495-D7FB-41A6-AEC3-754BDF0B8255}" type="presOf" srcId="{DD5A7A35-5A15-4B58-AEDD-411F40950215}" destId="{AC0B05F7-BE28-4DE7-BEDD-1B4C78C5E249}" srcOrd="0" destOrd="2" presId="urn:microsoft.com/office/officeart/2005/8/layout/StepDownProcess"/>
    <dgm:cxn modelId="{C031689E-E973-46C7-8518-E3195823960E}" srcId="{D82D9B06-027C-495A-B380-CFF51EC03FF2}" destId="{DD5A7A35-5A15-4B58-AEDD-411F40950215}" srcOrd="2" destOrd="0" parTransId="{BD81162B-C20F-4005-B2F0-C30B399C5E32}" sibTransId="{E57BB0D7-5BEF-496E-B302-348D9F025F8F}"/>
    <dgm:cxn modelId="{7A75F59E-CAA4-466A-AD9B-41E996CC347B}" type="presOf" srcId="{D82D9B06-027C-495A-B380-CFF51EC03FF2}" destId="{50F7A1D8-7061-497B-8D7A-CB27F1127F7C}" srcOrd="0" destOrd="0" presId="urn:microsoft.com/office/officeart/2005/8/layout/StepDownProcess"/>
    <dgm:cxn modelId="{306743A2-229D-49D4-84C5-213A5CA3ED9C}" type="presOf" srcId="{609ED54A-431A-4316-BCBE-3D9E3B78286A}" destId="{193F54E5-8840-4B01-9E4C-D56B2D375EA3}" srcOrd="0" destOrd="2" presId="urn:microsoft.com/office/officeart/2005/8/layout/StepDownProcess"/>
    <dgm:cxn modelId="{28283EA8-3EDD-4CF5-ABFB-DFBCE92665FA}" srcId="{9C139C28-11D4-4678-9E1C-1F30E3B5FB76}" destId="{A273EA09-49EA-41D2-9800-03ACC3DF37C8}" srcOrd="3" destOrd="0" parTransId="{1AFE5425-276A-4E02-9B4B-DF047255950B}" sibTransId="{BE3A83DA-338A-41F1-8305-DE0F276F36F6}"/>
    <dgm:cxn modelId="{523359AD-6F0F-4065-A465-58B8CC299493}" srcId="{D82D9B06-027C-495A-B380-CFF51EC03FF2}" destId="{CB2654A3-B84D-453C-A6BC-6E05FBC39D7B}" srcOrd="1" destOrd="0" parTransId="{4E4D5B9B-9E0F-45C4-B1C0-F70362414E0A}" sibTransId="{FB9242E7-EBBA-4C10-B85B-C339EC9DD9FA}"/>
    <dgm:cxn modelId="{F0F6F6AE-E418-462D-B043-E8A81F552092}" type="presOf" srcId="{E297E693-9AF3-4373-AF29-934575E929F3}" destId="{193F54E5-8840-4B01-9E4C-D56B2D375EA3}" srcOrd="0" destOrd="1" presId="urn:microsoft.com/office/officeart/2005/8/layout/StepDownProcess"/>
    <dgm:cxn modelId="{66CE83C8-2E44-4707-969E-F994EAF06964}" type="presOf" srcId="{1CDB2727-99AD-4A94-9AF0-E7BDC322A0DF}" destId="{AC0B05F7-BE28-4DE7-BEDD-1B4C78C5E249}" srcOrd="0" destOrd="0" presId="urn:microsoft.com/office/officeart/2005/8/layout/StepDownProcess"/>
    <dgm:cxn modelId="{15A5AAEA-93E2-4C60-9811-71D092744875}" srcId="{ED4CA59F-3E13-4470-A075-45FFC1362D22}" destId="{9C139C28-11D4-4678-9E1C-1F30E3B5FB76}" srcOrd="0" destOrd="0" parTransId="{AAD517A8-F2C0-4B64-85AD-5BD4EA977DC8}" sibTransId="{47F173EF-4B70-4B2C-8F93-7469D516A07D}"/>
    <dgm:cxn modelId="{DD92B4EA-533C-40A7-B0AF-681B40F07DE6}" type="presOf" srcId="{76F6A34C-FF21-482C-A35D-222A38FDC43A}" destId="{74168544-C8A1-46EF-A7DD-08EBF290A002}" srcOrd="0" destOrd="1" presId="urn:microsoft.com/office/officeart/2005/8/layout/StepDownProcess"/>
    <dgm:cxn modelId="{583E1BEC-30EE-437C-99F8-476B6303535B}" srcId="{2BACB48F-D381-47A4-B08A-4DE3A6227C64}" destId="{609ED54A-431A-4316-BCBE-3D9E3B78286A}" srcOrd="2" destOrd="0" parTransId="{BBD74BF1-77EC-4EC9-A5EA-FB07CC8BA0E7}" sibTransId="{C02F3647-D353-4F9A-8DC6-A164B4908C92}"/>
    <dgm:cxn modelId="{B4287CB5-C934-4736-B7A7-268665D1D126}" type="presParOf" srcId="{56A41B7D-5714-4130-BFA8-8553513D8FA5}" destId="{B4EF55F4-7DAA-4BB1-B677-91EB561D03F3}" srcOrd="0" destOrd="0" presId="urn:microsoft.com/office/officeart/2005/8/layout/StepDownProcess"/>
    <dgm:cxn modelId="{6F36E397-3069-49C2-B8EA-0973B9B2B7CE}" type="presParOf" srcId="{B4EF55F4-7DAA-4BB1-B677-91EB561D03F3}" destId="{400D0227-D512-4F01-896E-308724A946E1}" srcOrd="0" destOrd="0" presId="urn:microsoft.com/office/officeart/2005/8/layout/StepDownProcess"/>
    <dgm:cxn modelId="{BAB24599-F96E-4B44-9DE3-81B1A31EAF6B}" type="presParOf" srcId="{B4EF55F4-7DAA-4BB1-B677-91EB561D03F3}" destId="{C85DE093-86E8-40B3-9068-7BF87C232A51}" srcOrd="1" destOrd="0" presId="urn:microsoft.com/office/officeart/2005/8/layout/StepDownProcess"/>
    <dgm:cxn modelId="{AF263DD5-8078-499B-A766-3BCE1EB7D74D}" type="presParOf" srcId="{B4EF55F4-7DAA-4BB1-B677-91EB561D03F3}" destId="{74168544-C8A1-46EF-A7DD-08EBF290A002}" srcOrd="2" destOrd="0" presId="urn:microsoft.com/office/officeart/2005/8/layout/StepDownProcess"/>
    <dgm:cxn modelId="{245EBE5D-ABFF-4288-91FD-CEBE7BB538E7}" type="presParOf" srcId="{56A41B7D-5714-4130-BFA8-8553513D8FA5}" destId="{74F9155C-5F38-45E7-94F7-79285C18718C}" srcOrd="1" destOrd="0" presId="urn:microsoft.com/office/officeart/2005/8/layout/StepDownProcess"/>
    <dgm:cxn modelId="{8E27FE89-6747-41F8-94D6-7A5ECE2A2884}" type="presParOf" srcId="{56A41B7D-5714-4130-BFA8-8553513D8FA5}" destId="{CC1D36AC-49F6-4A00-8E04-9C78FA4DE5CE}" srcOrd="2" destOrd="0" presId="urn:microsoft.com/office/officeart/2005/8/layout/StepDownProcess"/>
    <dgm:cxn modelId="{ECE58D6F-9CFE-40FE-9A06-F16EA172BB7C}" type="presParOf" srcId="{CC1D36AC-49F6-4A00-8E04-9C78FA4DE5CE}" destId="{E616EC08-7C0C-401F-938A-6C3F28C430EC}" srcOrd="0" destOrd="0" presId="urn:microsoft.com/office/officeart/2005/8/layout/StepDownProcess"/>
    <dgm:cxn modelId="{D634B576-845F-41D5-A720-110F3AD87787}" type="presParOf" srcId="{CC1D36AC-49F6-4A00-8E04-9C78FA4DE5CE}" destId="{2C1C42DA-0B80-4DA7-97B7-22C9E0B0908F}" srcOrd="1" destOrd="0" presId="urn:microsoft.com/office/officeart/2005/8/layout/StepDownProcess"/>
    <dgm:cxn modelId="{36D15EAE-851F-4A9E-A444-E6029CD16F2D}" type="presParOf" srcId="{CC1D36AC-49F6-4A00-8E04-9C78FA4DE5CE}" destId="{193F54E5-8840-4B01-9E4C-D56B2D375EA3}" srcOrd="2" destOrd="0" presId="urn:microsoft.com/office/officeart/2005/8/layout/StepDownProcess"/>
    <dgm:cxn modelId="{700A8883-6287-4CBC-9208-F57935C07930}" type="presParOf" srcId="{56A41B7D-5714-4130-BFA8-8553513D8FA5}" destId="{D4E5DBA1-5398-4AD0-8408-1058CE57BB50}" srcOrd="3" destOrd="0" presId="urn:microsoft.com/office/officeart/2005/8/layout/StepDownProcess"/>
    <dgm:cxn modelId="{6CD65634-3CB9-4245-8722-FAC90327A316}" type="presParOf" srcId="{56A41B7D-5714-4130-BFA8-8553513D8FA5}" destId="{807D7B9D-E5A9-4DE2-866B-7FFF8A4544EC}" srcOrd="4" destOrd="0" presId="urn:microsoft.com/office/officeart/2005/8/layout/StepDownProcess"/>
    <dgm:cxn modelId="{B5331C0F-D5F6-45AB-A6F3-B68A5D3D5DB4}" type="presParOf" srcId="{807D7B9D-E5A9-4DE2-866B-7FFF8A4544EC}" destId="{50F7A1D8-7061-497B-8D7A-CB27F1127F7C}" srcOrd="0" destOrd="0" presId="urn:microsoft.com/office/officeart/2005/8/layout/StepDownProcess"/>
    <dgm:cxn modelId="{832B3B10-CB49-421C-9F86-FBF1E9C4885B}" type="presParOf" srcId="{807D7B9D-E5A9-4DE2-866B-7FFF8A4544EC}" destId="{AC0B05F7-BE28-4DE7-BEDD-1B4C78C5E249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0D0227-D512-4F01-896E-308724A946E1}">
      <dsp:nvSpPr>
        <dsp:cNvPr id="0" name=""/>
        <dsp:cNvSpPr/>
      </dsp:nvSpPr>
      <dsp:spPr>
        <a:xfrm rot="5400000">
          <a:off x="807696" y="1143802"/>
          <a:ext cx="1037526" cy="118118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5DE093-86E8-40B3-9068-7BF87C232A51}">
      <dsp:nvSpPr>
        <dsp:cNvPr id="0" name=""/>
        <dsp:cNvSpPr/>
      </dsp:nvSpPr>
      <dsp:spPr>
        <a:xfrm>
          <a:off x="545373" y="20708"/>
          <a:ext cx="1721467" cy="116850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Data Foundation</a:t>
          </a:r>
          <a:endParaRPr lang="en-IN" sz="2100" kern="1200" dirty="0"/>
        </a:p>
      </dsp:txBody>
      <dsp:txXfrm>
        <a:off x="602425" y="77760"/>
        <a:ext cx="1607363" cy="1054398"/>
      </dsp:txXfrm>
    </dsp:sp>
    <dsp:sp modelId="{74168544-C8A1-46EF-A7DD-08EBF290A002}">
      <dsp:nvSpPr>
        <dsp:cNvPr id="0" name=""/>
        <dsp:cNvSpPr/>
      </dsp:nvSpPr>
      <dsp:spPr>
        <a:xfrm>
          <a:off x="2312166" y="140578"/>
          <a:ext cx="2719416" cy="988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Data Centralization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System Integration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Data quality and governance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400" kern="1200" dirty="0"/>
        </a:p>
      </dsp:txBody>
      <dsp:txXfrm>
        <a:off x="2312166" y="140578"/>
        <a:ext cx="2719416" cy="988120"/>
      </dsp:txXfrm>
    </dsp:sp>
    <dsp:sp modelId="{E616EC08-7C0C-401F-938A-6C3F28C430EC}">
      <dsp:nvSpPr>
        <dsp:cNvPr id="0" name=""/>
        <dsp:cNvSpPr/>
      </dsp:nvSpPr>
      <dsp:spPr>
        <a:xfrm rot="5400000">
          <a:off x="2610118" y="2517132"/>
          <a:ext cx="1037526" cy="118118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1C42DA-0B80-4DA7-97B7-22C9E0B0908F}">
      <dsp:nvSpPr>
        <dsp:cNvPr id="0" name=""/>
        <dsp:cNvSpPr/>
      </dsp:nvSpPr>
      <dsp:spPr>
        <a:xfrm>
          <a:off x="2335237" y="1367013"/>
          <a:ext cx="1746583" cy="12225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Advanced Analytics</a:t>
          </a:r>
          <a:endParaRPr lang="en-IN" sz="2100" kern="1200" dirty="0"/>
        </a:p>
      </dsp:txBody>
      <dsp:txXfrm>
        <a:off x="2394928" y="1426704"/>
        <a:ext cx="1627201" cy="1103169"/>
      </dsp:txXfrm>
    </dsp:sp>
    <dsp:sp modelId="{193F54E5-8840-4B01-9E4C-D56B2D375EA3}">
      <dsp:nvSpPr>
        <dsp:cNvPr id="0" name=""/>
        <dsp:cNvSpPr/>
      </dsp:nvSpPr>
      <dsp:spPr>
        <a:xfrm>
          <a:off x="4093558" y="1472939"/>
          <a:ext cx="3084589" cy="988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Business intelligence dashboards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Self service analytics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Real time and historical insights</a:t>
          </a:r>
          <a:endParaRPr lang="en-IN" sz="1400" kern="1200" dirty="0"/>
        </a:p>
      </dsp:txBody>
      <dsp:txXfrm>
        <a:off x="4093558" y="1472939"/>
        <a:ext cx="3084589" cy="988120"/>
      </dsp:txXfrm>
    </dsp:sp>
    <dsp:sp modelId="{50F7A1D8-7061-497B-8D7A-CB27F1127F7C}">
      <dsp:nvSpPr>
        <dsp:cNvPr id="0" name=""/>
        <dsp:cNvSpPr/>
      </dsp:nvSpPr>
      <dsp:spPr>
        <a:xfrm>
          <a:off x="4125101" y="2740342"/>
          <a:ext cx="1746583" cy="122255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AI Driven Intelligence</a:t>
          </a:r>
          <a:endParaRPr lang="en-IN" sz="2100" kern="1200" dirty="0"/>
        </a:p>
      </dsp:txBody>
      <dsp:txXfrm>
        <a:off x="4184792" y="2800033"/>
        <a:ext cx="1627201" cy="1103169"/>
      </dsp:txXfrm>
    </dsp:sp>
    <dsp:sp modelId="{AC0B05F7-BE28-4DE7-BEDD-1B4C78C5E249}">
      <dsp:nvSpPr>
        <dsp:cNvPr id="0" name=""/>
        <dsp:cNvSpPr/>
      </dsp:nvSpPr>
      <dsp:spPr>
        <a:xfrm>
          <a:off x="5906620" y="2885586"/>
          <a:ext cx="2291173" cy="988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Predictive analytics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Risk alerts and anomaly detection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AI-powered decision support</a:t>
          </a:r>
          <a:endParaRPr lang="en-IN" sz="1200" kern="1200" dirty="0"/>
        </a:p>
      </dsp:txBody>
      <dsp:txXfrm>
        <a:off x="5906620" y="2885586"/>
        <a:ext cx="2291173" cy="988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074D8-88DD-4F75-B39D-57BE067C5D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Commodities &amp; FX Brokerage </a:t>
            </a:r>
          </a:p>
        </p:txBody>
      </p:sp>
    </p:spTree>
    <p:extLst>
      <p:ext uri="{BB962C8B-B14F-4D97-AF65-F5344CB8AC3E}">
        <p14:creationId xmlns:p14="http://schemas.microsoft.com/office/powerpoint/2010/main" val="3742582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19925-4B86-49BA-A636-F675CF039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4358"/>
            <a:ext cx="8596668" cy="4467004"/>
          </a:xfrm>
        </p:spPr>
        <p:txBody>
          <a:bodyPr/>
          <a:lstStyle/>
          <a:p>
            <a:r>
              <a:rPr lang="en-US" dirty="0"/>
              <a:t>Companies involved in:  Commodities trading (Companies buy and sell physical goods like oil, gas, gold, and crops) and Foreign exchange (FX) trading (Trading different currencies such as USD, EUR, and GBP).</a:t>
            </a:r>
          </a:p>
          <a:p>
            <a:r>
              <a:rPr lang="en-US" dirty="0"/>
              <a:t>Operate in </a:t>
            </a:r>
            <a:r>
              <a:rPr lang="en-US" b="1" dirty="0"/>
              <a:t>high-volume, high-volatility</a:t>
            </a:r>
            <a:r>
              <a:rPr lang="en-US" dirty="0"/>
              <a:t> markets.(Prices change frequently and decisions must be made quickly.)</a:t>
            </a:r>
          </a:p>
          <a:p>
            <a:r>
              <a:rPr lang="en-IN" dirty="0"/>
              <a:t>Strong dependence on: Real Time market data , Risk Analytics and Regulatory reporting.</a:t>
            </a:r>
          </a:p>
          <a:p>
            <a:r>
              <a:rPr lang="en-US" dirty="0"/>
              <a:t>Example : When GBP/USD moves during a Bank of England announcement, London FX brokers need real-time prices, instant risk calculations, and accurate FCA (</a:t>
            </a:r>
            <a:r>
              <a:rPr lang="en-IN" dirty="0"/>
              <a:t>Financial Conduct Authority)</a:t>
            </a:r>
            <a:r>
              <a:rPr lang="en-US" dirty="0"/>
              <a:t>reporting to avoid losses and penalties.</a:t>
            </a:r>
            <a:endParaRPr lang="en-IN" dirty="0"/>
          </a:p>
          <a:p>
            <a:r>
              <a:rPr lang="en-US" dirty="0"/>
              <a:t>K</a:t>
            </a:r>
            <a:r>
              <a:rPr lang="en-IN" dirty="0"/>
              <a:t>ey Challenge 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IN" dirty="0"/>
              <a:t>    Fast and </a:t>
            </a:r>
            <a:r>
              <a:rPr lang="en-US" dirty="0"/>
              <a:t>accurate decisions depend entirely on data quality and availability.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1684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EBFF5-C3E2-4541-8AF5-1AA9E2533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Before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92E73-E377-4D4B-ADE9-E21A6FA55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Fragmented Data Landscape </a:t>
            </a:r>
            <a:r>
              <a:rPr lang="en-IN" dirty="0"/>
              <a:t>: </a:t>
            </a:r>
            <a:r>
              <a:rPr lang="en-US" dirty="0"/>
              <a:t>Business data was spread across many separate systems such as trading platforms, risk tools, and back-office applications.</a:t>
            </a:r>
            <a:endParaRPr lang="en-IN" dirty="0"/>
          </a:p>
          <a:p>
            <a:r>
              <a:rPr lang="en-IN" b="1" dirty="0"/>
              <a:t>Manual &amp; Delayed Reporting </a:t>
            </a:r>
            <a:r>
              <a:rPr lang="en-IN" dirty="0"/>
              <a:t>: </a:t>
            </a:r>
            <a:r>
              <a:rPr lang="en-US" dirty="0"/>
              <a:t>Reports were created using manual processes and spreadsheets.</a:t>
            </a:r>
            <a:endParaRPr lang="en-IN" dirty="0"/>
          </a:p>
          <a:p>
            <a:r>
              <a:rPr lang="en-IN" b="1" dirty="0"/>
              <a:t>Limited Risk Visibility : </a:t>
            </a:r>
            <a:r>
              <a:rPr lang="en-IN" dirty="0"/>
              <a:t>No real time risk exposure.</a:t>
            </a:r>
          </a:p>
          <a:p>
            <a:r>
              <a:rPr lang="en-IN" b="1" dirty="0"/>
              <a:t>Weak Data Governance : </a:t>
            </a:r>
            <a:r>
              <a:rPr lang="en-US" dirty="0"/>
              <a:t>No clear standards for data quality, ownership, or definitions.</a:t>
            </a:r>
            <a:endParaRPr lang="en-IN" b="1" dirty="0"/>
          </a:p>
          <a:p>
            <a:r>
              <a:rPr lang="en-IN" b="1" dirty="0"/>
              <a:t>High IT Dependency : </a:t>
            </a:r>
            <a:r>
              <a:rPr lang="en-US" dirty="0"/>
              <a:t>Business users depend heavily on IT teams for data access and reporting.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Result:</a:t>
            </a:r>
            <a:br>
              <a:rPr lang="en-US" dirty="0"/>
            </a:br>
            <a:r>
              <a:rPr lang="en-US" dirty="0"/>
              <a:t>Slow decisions, operational inefficiency, and higher business risk.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2986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5409-8F7E-4B9F-AB57-A067E3CAE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Impact of the Old Setup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3D9D1-7F17-4A2C-A8FB-9A8ADF3B9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60605"/>
            <a:ext cx="8596668" cy="41807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Market volatility requires </a:t>
            </a:r>
            <a:r>
              <a:rPr lang="en-US" b="1" dirty="0"/>
              <a:t>real-time decisions</a:t>
            </a:r>
          </a:p>
          <a:p>
            <a:r>
              <a:rPr lang="en-US" dirty="0"/>
              <a:t>Delayed or inaccurate data leads to: Financial Loses , Risk Miscalculations , </a:t>
            </a:r>
            <a:r>
              <a:rPr lang="en-US" dirty="0" err="1"/>
              <a:t>Compilance</a:t>
            </a:r>
            <a:r>
              <a:rPr lang="en-US" dirty="0"/>
              <a:t> issues.</a:t>
            </a:r>
          </a:p>
          <a:p>
            <a:r>
              <a:rPr lang="en-US" dirty="0"/>
              <a:t>Real life example :Bloomberg suffered a 90-minute data outage in May 2025, preventing many London traders from accessing live market prices and forcing pauses in trading activity.</a:t>
            </a:r>
          </a:p>
          <a:p>
            <a:r>
              <a:rPr lang="en-US" b="1" dirty="0"/>
              <a:t>Poor Scalability: </a:t>
            </a:r>
            <a:r>
              <a:rPr lang="en-US" dirty="0"/>
              <a:t>The system cannot efficiently handle increasing trading volumes, real-time market data, and users as the commodities and FX brokerage business grows.</a:t>
            </a:r>
            <a:endParaRPr lang="en-US" b="1" dirty="0"/>
          </a:p>
          <a:p>
            <a:r>
              <a:rPr lang="en-US" b="1" dirty="0"/>
              <a:t>Low Trust in data :</a:t>
            </a:r>
            <a:r>
              <a:rPr lang="en-US" dirty="0"/>
              <a:t>In a fragmented and poorly governed data environment: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Different teams see different numbers for the same metric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Data definitions are inconsistent across systems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Manual adjustments reduce data reliability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Data accuracy cannot be easily verified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27257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9EE50-925E-48F3-8FA8-028E7467E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BC2BC-49AD-4F3B-9542-2086CD9C3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b="1" dirty="0"/>
              <a:t>3-Year Data &amp; AI Strategy.</a:t>
            </a:r>
          </a:p>
          <a:p>
            <a:r>
              <a:rPr lang="en-US" dirty="0"/>
              <a:t>A </a:t>
            </a:r>
            <a:r>
              <a:rPr lang="en-US" b="1" dirty="0"/>
              <a:t>centralized, cloud-based analytics platform</a:t>
            </a:r>
          </a:p>
          <a:p>
            <a:r>
              <a:rPr lang="en-US" dirty="0"/>
              <a:t>Integration of: Trading systems ,Risk management systems ,Back-office and finance systems and External market data feeds</a:t>
            </a:r>
          </a:p>
          <a:p>
            <a:r>
              <a:rPr lang="en-US" dirty="0"/>
              <a:t>Strong </a:t>
            </a:r>
            <a:r>
              <a:rPr lang="en-US" b="1" dirty="0"/>
              <a:t>Data Management &amp; Governance framework</a:t>
            </a:r>
          </a:p>
          <a:p>
            <a:r>
              <a:rPr lang="en-US" b="1" dirty="0"/>
              <a:t>Self-service analytics</a:t>
            </a:r>
            <a:r>
              <a:rPr lang="en-US" dirty="0"/>
              <a:t> for business users</a:t>
            </a:r>
          </a:p>
          <a:p>
            <a:endParaRPr lang="en-US" dirty="0"/>
          </a:p>
          <a:p>
            <a:r>
              <a:rPr lang="en-US" dirty="0"/>
              <a:t>GOAL : Create a single, trusted data foundation that supports analytics today and AI in the future.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6545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9A4F7-A7A9-40A4-B1F3-86A153A1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3-Year Data &amp; AI Strategy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B33DD96-06F7-447E-8BB1-EF430D4ED4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7146053"/>
              </p:ext>
            </p:extLst>
          </p:nvPr>
        </p:nvGraphicFramePr>
        <p:xfrm>
          <a:off x="588397" y="1828800"/>
          <a:ext cx="8197794" cy="3983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738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C386B-1B75-4B6F-BD2D-A704258A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Delivered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5BAB6-D71C-42B7-9626-D0222AC63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Unified data platform for real-time and historical analysis</a:t>
            </a:r>
          </a:p>
          <a:p>
            <a:r>
              <a:rPr lang="en-US" dirty="0"/>
              <a:t>Faster decision-making across teams</a:t>
            </a:r>
          </a:p>
          <a:p>
            <a:r>
              <a:rPr lang="en-US" dirty="0"/>
              <a:t>Reduced data silos</a:t>
            </a:r>
          </a:p>
          <a:p>
            <a:r>
              <a:rPr lang="en-US" dirty="0"/>
              <a:t>Improved data accuracy and trust</a:t>
            </a:r>
          </a:p>
          <a:p>
            <a:r>
              <a:rPr lang="en-US" dirty="0"/>
              <a:t>Lower operational and reporting effort</a:t>
            </a:r>
          </a:p>
          <a:p>
            <a:r>
              <a:rPr lang="en-US" dirty="0"/>
              <a:t>Scalable architecture ready for future AI use cases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1869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B439E-2BBB-4C66-8CA8-F9E6336A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A67D2-71CE-4AB0-8815-5FD94CE4E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Faster and smarter trading decisions</a:t>
            </a:r>
          </a:p>
          <a:p>
            <a:r>
              <a:rPr lang="en-US" dirty="0"/>
              <a:t>Improved risk management</a:t>
            </a:r>
          </a:p>
          <a:p>
            <a:r>
              <a:rPr lang="en-US" dirty="0"/>
              <a:t>Higher operational efficiency</a:t>
            </a:r>
          </a:p>
          <a:p>
            <a:r>
              <a:rPr lang="en-US" dirty="0"/>
              <a:t>Simplified regulatory compliance</a:t>
            </a:r>
          </a:p>
          <a:p>
            <a:r>
              <a:rPr lang="en-US" dirty="0"/>
              <a:t>Reduced cost of reporting and analytics</a:t>
            </a:r>
          </a:p>
          <a:p>
            <a:r>
              <a:rPr lang="en-US" dirty="0"/>
              <a:t>AI-ready cloud platform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171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E5C53-B1C6-4F5D-B0C6-F96495EA7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Companies in the UK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B890B-B7D9-4252-BA8C-0F4F769B9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4359"/>
            <a:ext cx="8596668" cy="49616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E078F4-0B1F-4392-BC67-9C4C528AD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673645"/>
              </p:ext>
            </p:extLst>
          </p:nvPr>
        </p:nvGraphicFramePr>
        <p:xfrm>
          <a:off x="1311965" y="1556689"/>
          <a:ext cx="7588323" cy="4778165"/>
        </p:xfrm>
        <a:graphic>
          <a:graphicData uri="http://schemas.openxmlformats.org/drawingml/2006/table">
            <a:tbl>
              <a:tblPr/>
              <a:tblGrid>
                <a:gridCol w="887033">
                  <a:extLst>
                    <a:ext uri="{9D8B030D-6E8A-4147-A177-3AD203B41FA5}">
                      <a16:colId xmlns:a16="http://schemas.microsoft.com/office/drawing/2014/main" val="1663573042"/>
                    </a:ext>
                  </a:extLst>
                </a:gridCol>
                <a:gridCol w="1340258">
                  <a:extLst>
                    <a:ext uri="{9D8B030D-6E8A-4147-A177-3AD203B41FA5}">
                      <a16:colId xmlns:a16="http://schemas.microsoft.com/office/drawing/2014/main" val="3280832690"/>
                    </a:ext>
                  </a:extLst>
                </a:gridCol>
                <a:gridCol w="1340258">
                  <a:extLst>
                    <a:ext uri="{9D8B030D-6E8A-4147-A177-3AD203B41FA5}">
                      <a16:colId xmlns:a16="http://schemas.microsoft.com/office/drawing/2014/main" val="3923565003"/>
                    </a:ext>
                  </a:extLst>
                </a:gridCol>
                <a:gridCol w="1340258">
                  <a:extLst>
                    <a:ext uri="{9D8B030D-6E8A-4147-A177-3AD203B41FA5}">
                      <a16:colId xmlns:a16="http://schemas.microsoft.com/office/drawing/2014/main" val="32113148"/>
                    </a:ext>
                  </a:extLst>
                </a:gridCol>
                <a:gridCol w="1340258">
                  <a:extLst>
                    <a:ext uri="{9D8B030D-6E8A-4147-A177-3AD203B41FA5}">
                      <a16:colId xmlns:a16="http://schemas.microsoft.com/office/drawing/2014/main" val="14481658"/>
                    </a:ext>
                  </a:extLst>
                </a:gridCol>
                <a:gridCol w="1340258">
                  <a:extLst>
                    <a:ext uri="{9D8B030D-6E8A-4147-A177-3AD203B41FA5}">
                      <a16:colId xmlns:a16="http://schemas.microsoft.com/office/drawing/2014/main" val="1841543766"/>
                    </a:ext>
                  </a:extLst>
                </a:gridCol>
              </a:tblGrid>
              <a:tr h="608982">
                <a:tc>
                  <a:txBody>
                    <a:bodyPr/>
                    <a:lstStyle/>
                    <a:p>
                      <a:r>
                        <a:rPr lang="en-IN" sz="1000" b="1" dirty="0"/>
                        <a:t>Company</a:t>
                      </a:r>
                      <a:endParaRPr lang="en-IN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What They Do</a:t>
                      </a:r>
                      <a:endParaRPr lang="en-IN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Cloud / Platform Tech (Known)</a:t>
                      </a:r>
                      <a:endParaRPr lang="en-IN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USP (Value / Strength)</a:t>
                      </a:r>
                      <a:endParaRPr lang="en-IN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Architecture / Platform Style</a:t>
                      </a:r>
                      <a:endParaRPr lang="en-IN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What They Trade</a:t>
                      </a:r>
                      <a:endParaRPr lang="en-IN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250655"/>
                  </a:ext>
                </a:extLst>
              </a:tr>
              <a:tr h="1030585">
                <a:tc>
                  <a:txBody>
                    <a:bodyPr/>
                    <a:lstStyle/>
                    <a:p>
                      <a:r>
                        <a:rPr lang="en-IN" sz="1000" b="1"/>
                        <a:t>Trafigura</a:t>
                      </a:r>
                      <a:endParaRPr lang="en-IN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Major global commodity trader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Digital supply chain optimization, AI investments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Physical trade + logistics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Vertical integration across trade, logistics &amp;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Energy, base metals, gas, renewables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250856"/>
                  </a:ext>
                </a:extLst>
              </a:tr>
              <a:tr h="890050">
                <a:tc>
                  <a:txBody>
                    <a:bodyPr/>
                    <a:lstStyle/>
                    <a:p>
                      <a:r>
                        <a:rPr lang="en-IN" sz="1000" b="1"/>
                        <a:t>Vitol</a:t>
                      </a:r>
                      <a:endParaRPr lang="en-IN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Global energy &amp; commodities trader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Active in AI/analytics investments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Scales physical + financial trading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Large internal logistics, pricing &amp; risk platforms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Crude oil, LNG, power, carbon markets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9718151"/>
                  </a:ext>
                </a:extLst>
              </a:tr>
              <a:tr h="608982">
                <a:tc>
                  <a:txBody>
                    <a:bodyPr/>
                    <a:lstStyle/>
                    <a:p>
                      <a:r>
                        <a:rPr lang="en-IN" sz="1000" b="1"/>
                        <a:t>Winton Group</a:t>
                      </a:r>
                      <a:endParaRPr lang="en-IN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Quant hedge fund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Heavy data science &amp; analytics tech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Research-driven systematic trading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Advanced in-house analytics/data stacks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Futures, equities, macro markets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774748"/>
                  </a:ext>
                </a:extLst>
              </a:tr>
              <a:tr h="749516">
                <a:tc>
                  <a:txBody>
                    <a:bodyPr/>
                    <a:lstStyle/>
                    <a:p>
                      <a:r>
                        <a:rPr lang="en-IN" sz="1000" b="1"/>
                        <a:t>Scipion Capital</a:t>
                      </a:r>
                      <a:endParaRPr lang="en-IN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Hedge fund &amp; trade 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Data &amp; risk tools for trade 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Commodity trade finance specialization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Reporting-integrated risk tech stacks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Commodity finance, private debt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92848"/>
                  </a:ext>
                </a:extLst>
              </a:tr>
              <a:tr h="890050">
                <a:tc>
                  <a:txBody>
                    <a:bodyPr/>
                    <a:lstStyle/>
                    <a:p>
                      <a:r>
                        <a:rPr lang="en-IN" sz="1000" b="1"/>
                        <a:t>Brevan Howard</a:t>
                      </a:r>
                      <a:endParaRPr lang="en-IN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Global macro hedge fund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Advanced infrastructure + digital asset 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Strong macro &amp; derivatives tech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Global data and risk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Macro, derivatives, FX, commodities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96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875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38F3000-2A46-44AE-AA25-985D114A30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1054150"/>
              </p:ext>
            </p:extLst>
          </p:nvPr>
        </p:nvGraphicFramePr>
        <p:xfrm>
          <a:off x="834887" y="1280160"/>
          <a:ext cx="9348729" cy="4658031"/>
        </p:xfrm>
        <a:graphic>
          <a:graphicData uri="http://schemas.openxmlformats.org/drawingml/2006/table">
            <a:tbl>
              <a:tblPr/>
              <a:tblGrid>
                <a:gridCol w="1452924">
                  <a:extLst>
                    <a:ext uri="{9D8B030D-6E8A-4147-A177-3AD203B41FA5}">
                      <a16:colId xmlns:a16="http://schemas.microsoft.com/office/drawing/2014/main" val="2782127947"/>
                    </a:ext>
                  </a:extLst>
                </a:gridCol>
                <a:gridCol w="1452924">
                  <a:extLst>
                    <a:ext uri="{9D8B030D-6E8A-4147-A177-3AD203B41FA5}">
                      <a16:colId xmlns:a16="http://schemas.microsoft.com/office/drawing/2014/main" val="3336526631"/>
                    </a:ext>
                  </a:extLst>
                </a:gridCol>
                <a:gridCol w="1452924">
                  <a:extLst>
                    <a:ext uri="{9D8B030D-6E8A-4147-A177-3AD203B41FA5}">
                      <a16:colId xmlns:a16="http://schemas.microsoft.com/office/drawing/2014/main" val="2400555282"/>
                    </a:ext>
                  </a:extLst>
                </a:gridCol>
                <a:gridCol w="1452924">
                  <a:extLst>
                    <a:ext uri="{9D8B030D-6E8A-4147-A177-3AD203B41FA5}">
                      <a16:colId xmlns:a16="http://schemas.microsoft.com/office/drawing/2014/main" val="3283583366"/>
                    </a:ext>
                  </a:extLst>
                </a:gridCol>
                <a:gridCol w="1452924">
                  <a:extLst>
                    <a:ext uri="{9D8B030D-6E8A-4147-A177-3AD203B41FA5}">
                      <a16:colId xmlns:a16="http://schemas.microsoft.com/office/drawing/2014/main" val="2992191614"/>
                    </a:ext>
                  </a:extLst>
                </a:gridCol>
                <a:gridCol w="2084109">
                  <a:extLst>
                    <a:ext uri="{9D8B030D-6E8A-4147-A177-3AD203B41FA5}">
                      <a16:colId xmlns:a16="http://schemas.microsoft.com/office/drawing/2014/main" val="224773412"/>
                    </a:ext>
                  </a:extLst>
                </a:gridCol>
              </a:tblGrid>
              <a:tr h="560689">
                <a:tc>
                  <a:txBody>
                    <a:bodyPr/>
                    <a:lstStyle/>
                    <a:p>
                      <a:r>
                        <a:rPr lang="en-IN" sz="1000" b="1"/>
                        <a:t>Company</a:t>
                      </a:r>
                      <a:endParaRPr lang="en-IN" sz="1000"/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What They Do</a:t>
                      </a:r>
                      <a:endParaRPr lang="en-IN" sz="1000"/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Cloud / Platform Tech (Known)</a:t>
                      </a:r>
                      <a:endParaRPr lang="en-IN" sz="1000"/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USP (Value / Strength)</a:t>
                      </a:r>
                      <a:endParaRPr lang="en-IN" sz="1000"/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Architecture / Platform Style</a:t>
                      </a:r>
                      <a:endParaRPr lang="en-IN" sz="1000"/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What They Trade</a:t>
                      </a:r>
                      <a:endParaRPr lang="en-IN" sz="1000"/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323895"/>
                  </a:ext>
                </a:extLst>
              </a:tr>
              <a:tr h="1078248">
                <a:tc>
                  <a:txBody>
                    <a:bodyPr/>
                    <a:lstStyle/>
                    <a:p>
                      <a:r>
                        <a:rPr lang="en-IN" sz="1000" b="1"/>
                        <a:t>Marex Group</a:t>
                      </a:r>
                      <a:endParaRPr lang="en-IN" sz="1000"/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Financial services &amp; commodities/FX brokerage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Integrated broking tech; connected to global exchanges &amp; risk engines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Large global broker serving producers, banks, hedge funds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Central trading systems with risk &amp; pricing integration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Commodities, FX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407432"/>
                  </a:ext>
                </a:extLst>
              </a:tr>
              <a:tr h="819468">
                <a:tc>
                  <a:txBody>
                    <a:bodyPr/>
                    <a:lstStyle/>
                    <a:p>
                      <a:r>
                        <a:rPr lang="en-IN" sz="1000" b="1"/>
                        <a:t>FxPro</a:t>
                      </a:r>
                      <a:endParaRPr lang="en-IN" sz="1000"/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Online FX &amp; CFD broker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MetaTrader + proprietary execution systems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FCA-regulated, millions of accounts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Retail trading platforms with real-time execution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FX, CFDs (stocks, futures, ETFs, crypto, metals)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0009231"/>
                  </a:ext>
                </a:extLst>
              </a:tr>
              <a:tr h="690079">
                <a:tc>
                  <a:txBody>
                    <a:bodyPr/>
                    <a:lstStyle/>
                    <a:p>
                      <a:r>
                        <a:rPr lang="en-IN" sz="1000" b="1"/>
                        <a:t>ActivTrades</a:t>
                      </a:r>
                      <a:endParaRPr lang="en-IN" sz="1000"/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FX &amp; CFD brokerage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MetaTrader 4/5, ActivTrader, TradingView integration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Multi-platform flexibility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Cloud-accessible trading engines &amp; data feeds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Forex, Indices, Commodities, CFDs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423435"/>
                  </a:ext>
                </a:extLst>
              </a:tr>
              <a:tr h="690079">
                <a:tc>
                  <a:txBody>
                    <a:bodyPr/>
                    <a:lstStyle/>
                    <a:p>
                      <a:r>
                        <a:rPr lang="en-IN" sz="1000" b="1"/>
                        <a:t>CMC Markets</a:t>
                      </a:r>
                      <a:endParaRPr lang="en-IN" sz="1000"/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Online trading &amp; CFD provider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Proprietary web/mobile platforms, global data APIs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Strong charting tools, compliant UK broker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Single integrated trading system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FX, Commodities, Indices, Shares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210566"/>
                  </a:ext>
                </a:extLst>
              </a:tr>
              <a:tr h="819468">
                <a:tc>
                  <a:txBody>
                    <a:bodyPr/>
                    <a:lstStyle/>
                    <a:p>
                      <a:r>
                        <a:rPr lang="en-IN" sz="1000" b="1"/>
                        <a:t>IG Group</a:t>
                      </a:r>
                      <a:endParaRPr lang="en-IN" sz="1000"/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Global online trading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IG platform + MetaTrader + ProRealTime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One of the largest UK brokers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Central global trading &amp; risk platform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FX, CFDs, spread betting, stocks</a:t>
                      </a:r>
                    </a:p>
                  </a:txBody>
                  <a:tcPr marL="35939" marR="35939" marT="17970" marB="179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9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769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68E3-2291-4C6C-BEC7-1AA8646AA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Stakeholders to Contact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47FA8-CFCC-48AC-BA66-75521A0DE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CTO / CIO (owns technology and cloud strategy)</a:t>
            </a:r>
          </a:p>
          <a:p>
            <a:r>
              <a:rPr lang="en-US" dirty="0"/>
              <a:t>C</a:t>
            </a:r>
            <a:r>
              <a:rPr lang="en-IN" dirty="0" err="1"/>
              <a:t>hief</a:t>
            </a:r>
            <a:r>
              <a:rPr lang="en-IN" dirty="0"/>
              <a:t> Data Officer (responsible for data platforms , governance and analytics)</a:t>
            </a:r>
          </a:p>
          <a:p>
            <a:r>
              <a:rPr lang="en-US" dirty="0"/>
              <a:t>C</a:t>
            </a:r>
            <a:r>
              <a:rPr lang="en-IN" dirty="0" err="1"/>
              <a:t>hief</a:t>
            </a:r>
            <a:r>
              <a:rPr lang="en-IN" dirty="0"/>
              <a:t> Risk Officer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875414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311</TotalTime>
  <Words>927</Words>
  <Application>Microsoft Office PowerPoint</Application>
  <PresentationFormat>Widescreen</PresentationFormat>
  <Paragraphs>139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Trebuchet MS</vt:lpstr>
      <vt:lpstr>Wingdings</vt:lpstr>
      <vt:lpstr>Wingdings 3</vt:lpstr>
      <vt:lpstr>Facet</vt:lpstr>
      <vt:lpstr>Commodities &amp; FX Brokerage </vt:lpstr>
      <vt:lpstr>PowerPoint Presentation</vt:lpstr>
      <vt:lpstr>Challenges Before Implementation</vt:lpstr>
      <vt:lpstr>Business Impact of the Old Setup</vt:lpstr>
      <vt:lpstr>Proposed Solution</vt:lpstr>
      <vt:lpstr>3-Year Data &amp; AI Strategy</vt:lpstr>
      <vt:lpstr>Results Delivered</vt:lpstr>
      <vt:lpstr>Business Benefits</vt:lpstr>
      <vt:lpstr>Target Companies in the UK</vt:lpstr>
      <vt:lpstr>PowerPoint Presentation</vt:lpstr>
      <vt:lpstr>Key Stakeholders to 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Commodities &amp; FX Brokerage</dc:title>
  <dc:creator>EXIMO IT</dc:creator>
  <cp:lastModifiedBy>EXIMO IT</cp:lastModifiedBy>
  <cp:revision>15</cp:revision>
  <dcterms:created xsi:type="dcterms:W3CDTF">2026-02-02T09:41:08Z</dcterms:created>
  <dcterms:modified xsi:type="dcterms:W3CDTF">2026-02-03T11:48:39Z</dcterms:modified>
</cp:coreProperties>
</file>